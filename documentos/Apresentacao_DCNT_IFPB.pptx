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4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926080"/>
            <a:ext cx="7315200" cy="7315200"/>
          </a:xfrm>
          <a:prstGeom prst="ellipse">
            <a:avLst/>
          </a:prstGeom>
          <a:solidFill>
            <a:srgbClr val="0E3324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Profissional em Tecnologia da Informação — IFPB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Padrões de Mortalidade por Doenças Crônicas Não Transmissíveis</a:t>
            </a:r>
            <a:endParaRPr lang="en-US" sz="3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Municípios Brasileiros (2010–2024)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Dados do DataSUS e IBGE e Identificação de Perfis por Clustering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3840480" cy="0"/>
          </a:xfrm>
          <a:prstGeom prst="line">
            <a:avLst/>
          </a:prstGeom>
          <a:noFill/>
          <a:ln w="19050">
            <a:solidFill>
              <a:srgbClr val="4C8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de Queiroz Gonçalves Velez  ·  Caio Jordan de Lima Maia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1389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Ciência de Dados — Docentes: Damires Souza e Alex Cunha — 2026.1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383280" cy="3749040"/>
          </a:xfrm>
          <a:prstGeom prst="roundRect">
            <a:avLst>
              <a:gd name="adj" fmla="val 2162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58975"/>
            <a:ext cx="3383280" cy="15745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488436"/>
            <a:ext cx="3108960" cy="114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óbitos registrados no Brasil são por Doenças Crônicas Não Transmissíveis (DCNT)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4173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estudos analisa a mortalidade por DCNT em nível nacional ou estadual — pouco espaço resta para a leitura municipal, essencial para orientar políticas públicas de saúde localmente.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2880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do trabalho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6240" y="333756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a distribuição da mortalidade por DCNT em nível municipal (2010–2024)</a:t>
            </a:r>
            <a:endParaRPr lang="en-US" sz="1600" dirty="0"/>
          </a:p>
          <a:p>
            <a:pPr marL="342900" indent="-3429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agrupamentos (clusters) de municípios com perfis semelhantes</a:t>
            </a:r>
            <a:endParaRPr lang="en-US" sz="1600" dirty="0"/>
          </a:p>
          <a:p>
            <a:pPr marL="342900" indent="-3429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relações entre mortalidade, composição de causas e porte populacional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Trabalhos Relacionados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Cardoso et al. (2020)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prematura por DCNT em todos os municípios; queda geral, mas alta no Nordeste.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Brant et al. (2025)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cardiovascular por porte populacional; menor redução em municípios pequenos.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Malta et al. (2014)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por DCNT por região (2000–2011); declínio médio de 2,5% ao ano.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155680" cy="1600200"/>
          </a:xfrm>
          <a:prstGeom prst="roundRect">
            <a:avLst>
              <a:gd name="adj" fmla="val 4571"/>
            </a:avLst>
          </a:prstGeom>
          <a:solidFill>
            <a:srgbClr val="15473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diferencial: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trabalhos aplica clustering orientado a dados (K-Means) sobre um vetor de taxa, tendência, porte populacional e composição de causas para segmentar perfis municipais — essa é a principal contribuição metodológica deste projeto.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— Pipeline de 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Medallion: três camadas sucessivas de refinamento, do dado bruto ao dataset analítico final.</a:t>
            </a:r>
            <a:endParaRPr lang="en-US" sz="1400" dirty="0"/>
          </a:p>
        </p:txBody>
      </p:sp>
      <p:pic>
        <p:nvPicPr>
          <p:cNvPr id="6" name="Image 0" descr="assets/fig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593" y="1463040"/>
            <a:ext cx="7167765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" y="5934456"/>
            <a:ext cx="146304" cy="146304"/>
          </a:xfrm>
          <a:prstGeom prst="ellipse">
            <a:avLst/>
          </a:prstGeom>
          <a:solidFill>
            <a:srgbClr val="B08968"/>
          </a:solidFill>
          <a:ln/>
        </p:spPr>
      </p:sp>
      <p:sp>
        <p:nvSpPr>
          <p:cNvPr id="8" name="Text 5"/>
          <p:cNvSpPr/>
          <p:nvPr/>
        </p:nvSpPr>
        <p:spPr>
          <a:xfrm>
            <a:off x="1138428" y="5843016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dados brutos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48556" y="5934456"/>
            <a:ext cx="146304" cy="146304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10" name="Text 7"/>
          <p:cNvSpPr/>
          <p:nvPr/>
        </p:nvSpPr>
        <p:spPr>
          <a:xfrm>
            <a:off x="4704588" y="5843016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 — limpos e organizados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14716" y="5934456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8270748" y="5843016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 — integrados e prontos p/ análise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Final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8314"/>
            <a:ext cx="2606040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5.570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150108"/>
            <a:ext cx="2331720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brasileiros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058314"/>
            <a:ext cx="2606040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anos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150108"/>
            <a:ext cx="2331720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série histórica (2010–2024)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058314"/>
            <a:ext cx="2606040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81.961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3150108"/>
            <a:ext cx="2331720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município × ano analisados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2058314"/>
            <a:ext cx="2606040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fontes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3150108"/>
            <a:ext cx="2331720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públicas integradas (SIM, IBGE municípios, IBGE população)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Medallion (Bronze/Prata/Ouro)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atributo derivado </a:t>
            </a:r>
            <a:r>
              <a:rPr lang="en-US" sz="1500" i="1" dirty="0">
                <a:solidFill>
                  <a:srgbClr val="4C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taxa_dcnt_100k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(óbitos por DCNT / população) × 100.000, calculado por município e ano.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100% secundários, já agregados e anonimizados — conformidade com a LGPD.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Temporal da Mortalidade por DCNT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 regional e nacional (2010–2024) — janela destacada assinala o período da pandemia de COVID-19.</a:t>
            </a:r>
            <a:endParaRPr lang="en-US" sz="1400" dirty="0"/>
          </a:p>
        </p:txBody>
      </p:sp>
      <p:pic>
        <p:nvPicPr>
          <p:cNvPr id="6" name="Image 0" descr="assets/fig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463040"/>
            <a:ext cx="10607040" cy="38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94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de alta ao longo da década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 211,7/100k (2010) para 235,8/100k (2019), com salto adicional durante a pandemia (pico de 270,9/100k em 2022) e nova alta em 2024 (263,1/100k). O gradiente regional se mantém estável: Sul e Sudeste sempre acima da média nacional, Norte sempre abaixo.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— K-Means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algoritmo que agrupa municípios parecidos em k grupos (clusters), repetindo rodadas de ajuste até estabilizar.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quantos grupos (k) serão formados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103120"/>
            <a:ext cx="457200" cy="45720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um “centro” para cada grupo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Reatribuir cada município ao centro mais próximo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35440" y="2103120"/>
            <a:ext cx="457200" cy="45720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3544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até os grupos pararem de mudar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15473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114800"/>
            <a:ext cx="10451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por Elbow Method + Silhouette Score (Silhouette = 0,2523) — validado contra Agglomerative, GMM e DBSCAN, todos com desempenho inferior.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Perfis de Mortalidade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3.103 municípios estáveis (log₁₀pop ≥ 4,0), divididos ao longo de um gradiente contínuo de mortalidade: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3F7DB0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8470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2.193 municípios — 60% Norte / Nordeste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médio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136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21 mil hab.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5935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DCNT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8496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202,1 / 100k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3068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5628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mais suave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02005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em destaque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2760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(12,3%)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AF2E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1920240"/>
            <a:ext cx="320040" cy="320040"/>
          </a:xfrm>
          <a:prstGeom prst="ellipse">
            <a:avLst/>
          </a:prstGeom>
          <a:solidFill>
            <a:srgbClr val="E08A2C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8470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37960" y="23591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910 municípios — 75% Sul / Sudeste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880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médio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3136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58 mil hab.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35935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DCNT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38496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420,4 / 100k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7960" y="43068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45628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mais acentuada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37960" y="502005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em destaque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52760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(27,4%) e Respiratória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Visualizando os Clusters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pic>
        <p:nvPicPr>
          <p:cNvPr id="5" name="Image 0" descr="assets/fig3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096512" cy="2847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01860"/>
            <a:ext cx="4096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PCA — cada ponto é um município; nuvens se sobrepõem (gradiente contínuo, não classes separadas)</a:t>
            </a:r>
            <a:endParaRPr lang="en-US" sz="1150" dirty="0"/>
          </a:p>
        </p:txBody>
      </p:sp>
      <p:pic>
        <p:nvPicPr>
          <p:cNvPr id="7" name="Image 1" descr="assets/fig4_ma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463040"/>
            <a:ext cx="6675120" cy="3116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5192" y="46709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— taxa DCNT (esquerda) e cluster atribuído (direita); áreas mais escuras coincidem com o Cluster 1 (laranja), sobretudo Sul/Sudeste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e Próximos Passos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51592" y="320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AF2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principal: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reprodutível de 3 fontes públicas (SIM, IBGE municípios e população) em um dataset analítico municipal de 15 anos, com pipeline documentado em arquitetura Medallion.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pequenos têm taxas voláteis (cobertura do clustering ≈ 56%)</a:t>
            </a:r>
            <a:endParaRPr lang="en-US" sz="14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cluster fraca (Silhouette ≈ 0,25) — gradiente contínuo, não classes discretas</a:t>
            </a:r>
            <a:endParaRPr lang="en-US" sz="14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sujeito a sub-registro, mais frequente no Norte/Nordeste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Trabalhos futuros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de sub-registro por região</a:t>
            </a:r>
            <a:endParaRPr lang="en-US" sz="14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variáveis socioeconômicas (renda, IDH, atenção básica)</a:t>
            </a:r>
            <a:endParaRPr lang="en-US" sz="14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modelos preditivos de trajetória de alta de mortalidade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IFPB 2026.1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4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7315200" cy="7315200"/>
          </a:xfrm>
          <a:prstGeom prst="ellipse">
            <a:avLst/>
          </a:prstGeom>
          <a:solidFill>
            <a:srgbClr val="0E3324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47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IFPB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Mortalidade por DCNT nos Municípios Brasileiros (2010–2024)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de Queiroz Gonçalves Velez  ·  Caio Jordan de Lima Maia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462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Profissional em TI — IFPB — Disciplina de Ciência de Dados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921</Words>
  <Application>Microsoft Macintosh PowerPoint</Application>
  <PresentationFormat>Widescreen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Mortalidade por DCNT nos Municípios Brasileiros</dc:title>
  <dc:subject>PptxGenJS Presentation</dc:subject>
  <dc:creator>Rodrigo de Queiroz Gonçalves Velez e Caio Jordan de Lima Maia</dc:creator>
  <cp:lastModifiedBy>Rodrigo Velez</cp:lastModifiedBy>
  <cp:revision>2</cp:revision>
  <dcterms:created xsi:type="dcterms:W3CDTF">2026-07-06T01:03:44Z</dcterms:created>
  <dcterms:modified xsi:type="dcterms:W3CDTF">2026-07-06T01:08:37Z</dcterms:modified>
</cp:coreProperties>
</file>